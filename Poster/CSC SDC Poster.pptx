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</p:sldIdLst>
  <p:sldSz cx="36576000" cy="2743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8640" userDrawn="1">
          <p15:clr>
            <a:srgbClr val="A4A3A4"/>
          </p15:clr>
        </p15:guide>
        <p15:guide id="2" pos="11520" userDrawn="1">
          <p15:clr>
            <a:srgbClr val="A4A3A4"/>
          </p15:clr>
        </p15:guide>
        <p15:guide id="3" pos="5760" userDrawn="1">
          <p15:clr>
            <a:srgbClr val="A4A3A4"/>
          </p15:clr>
        </p15:guide>
        <p15:guide id="4" pos="17280" userDrawn="1">
          <p15:clr>
            <a:srgbClr val="A4A3A4"/>
          </p15:clr>
        </p15:guide>
        <p15:guide id="5" orient="horz" pos="5760" userDrawn="1">
          <p15:clr>
            <a:srgbClr val="A4A3A4"/>
          </p15:clr>
        </p15:guide>
        <p15:guide id="6" orient="horz" pos="115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9" d="100"/>
          <a:sy n="19" d="100"/>
        </p:scale>
        <p:origin x="138" y="642"/>
      </p:cViewPr>
      <p:guideLst>
        <p:guide orient="horz" pos="8640"/>
        <p:guide pos="11520"/>
        <p:guide pos="5760"/>
        <p:guide pos="17280"/>
        <p:guide orient="horz" pos="5760"/>
        <p:guide orient="horz" pos="1152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743200" y="4489452"/>
            <a:ext cx="31089600" cy="9550400"/>
          </a:xfrm>
        </p:spPr>
        <p:txBody>
          <a:bodyPr anchor="b"/>
          <a:lstStyle>
            <a:lvl1pPr algn="ctr">
              <a:defRPr sz="2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572000" y="14408152"/>
            <a:ext cx="27432000" cy="6623048"/>
          </a:xfrm>
        </p:spPr>
        <p:txBody>
          <a:bodyPr/>
          <a:lstStyle>
            <a:lvl1pPr marL="0" indent="0" algn="ctr">
              <a:buNone/>
              <a:defRPr sz="9600"/>
            </a:lvl1pPr>
            <a:lvl2pPr marL="1828800" indent="0" algn="ctr">
              <a:buNone/>
              <a:defRPr sz="8000"/>
            </a:lvl2pPr>
            <a:lvl3pPr marL="3657600" indent="0" algn="ctr">
              <a:buNone/>
              <a:defRPr sz="7200"/>
            </a:lvl3pPr>
            <a:lvl4pPr marL="5486400" indent="0" algn="ctr">
              <a:buNone/>
              <a:defRPr sz="6400"/>
            </a:lvl4pPr>
            <a:lvl5pPr marL="7315200" indent="0" algn="ctr">
              <a:buNone/>
              <a:defRPr sz="6400"/>
            </a:lvl5pPr>
            <a:lvl6pPr marL="9144000" indent="0" algn="ctr">
              <a:buNone/>
              <a:defRPr sz="6400"/>
            </a:lvl6pPr>
            <a:lvl7pPr marL="10972800" indent="0" algn="ctr">
              <a:buNone/>
              <a:defRPr sz="6400"/>
            </a:lvl7pPr>
            <a:lvl8pPr marL="12801600" indent="0" algn="ctr">
              <a:buNone/>
              <a:defRPr sz="6400"/>
            </a:lvl8pPr>
            <a:lvl9pPr marL="14630400" indent="0" algn="ctr">
              <a:buNone/>
              <a:defRPr sz="64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484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692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495552" y="6838958"/>
            <a:ext cx="31546800" cy="11410948"/>
          </a:xfrm>
        </p:spPr>
        <p:txBody>
          <a:bodyPr anchor="b"/>
          <a:lstStyle>
            <a:lvl1pPr>
              <a:defRPr sz="2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495552" y="18357858"/>
            <a:ext cx="31546800" cy="6000748"/>
          </a:xfrm>
        </p:spPr>
        <p:txBody>
          <a:bodyPr/>
          <a:lstStyle>
            <a:lvl1pPr marL="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1pPr>
            <a:lvl2pPr marL="1828800" indent="0">
              <a:buNone/>
              <a:defRPr sz="8000">
                <a:solidFill>
                  <a:schemeClr val="tx1">
                    <a:tint val="82000"/>
                  </a:schemeClr>
                </a:solidFill>
              </a:defRPr>
            </a:lvl2pPr>
            <a:lvl3pPr marL="3657600" indent="0">
              <a:buNone/>
              <a:defRPr sz="7200">
                <a:solidFill>
                  <a:schemeClr val="tx1">
                    <a:tint val="82000"/>
                  </a:schemeClr>
                </a:solidFill>
              </a:defRPr>
            </a:lvl3pPr>
            <a:lvl4pPr marL="54864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4pPr>
            <a:lvl5pPr marL="73152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5pPr>
            <a:lvl6pPr marL="91440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6pPr>
            <a:lvl7pPr marL="109728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7pPr>
            <a:lvl8pPr marL="128016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8pPr>
            <a:lvl9pPr marL="14630400" indent="0">
              <a:buNone/>
              <a:defRPr sz="64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441521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14600" y="7302500"/>
            <a:ext cx="155448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8516600" y="7302500"/>
            <a:ext cx="15544800" cy="17405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84245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1460506"/>
            <a:ext cx="31546800" cy="530225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9368" y="6724652"/>
            <a:ext cx="15473360" cy="3295648"/>
          </a:xfrm>
        </p:spPr>
        <p:txBody>
          <a:bodyPr anchor="b"/>
          <a:lstStyle>
            <a:lvl1pPr marL="0" indent="0">
              <a:buNone/>
              <a:defRPr sz="9600" b="1"/>
            </a:lvl1pPr>
            <a:lvl2pPr marL="1828800" indent="0">
              <a:buNone/>
              <a:defRPr sz="8000" b="1"/>
            </a:lvl2pPr>
            <a:lvl3pPr marL="3657600" indent="0">
              <a:buNone/>
              <a:defRPr sz="7200" b="1"/>
            </a:lvl3pPr>
            <a:lvl4pPr marL="5486400" indent="0">
              <a:buNone/>
              <a:defRPr sz="6400" b="1"/>
            </a:lvl4pPr>
            <a:lvl5pPr marL="7315200" indent="0">
              <a:buNone/>
              <a:defRPr sz="6400" b="1"/>
            </a:lvl5pPr>
            <a:lvl6pPr marL="9144000" indent="0">
              <a:buNone/>
              <a:defRPr sz="6400" b="1"/>
            </a:lvl6pPr>
            <a:lvl7pPr marL="10972800" indent="0">
              <a:buNone/>
              <a:defRPr sz="6400" b="1"/>
            </a:lvl7pPr>
            <a:lvl8pPr marL="12801600" indent="0">
              <a:buNone/>
              <a:defRPr sz="6400" b="1"/>
            </a:lvl8pPr>
            <a:lvl9pPr marL="14630400" indent="0">
              <a:buNone/>
              <a:defRPr sz="6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19368" y="10020300"/>
            <a:ext cx="15473360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8516602" y="6724652"/>
            <a:ext cx="15549564" cy="3295648"/>
          </a:xfrm>
        </p:spPr>
        <p:txBody>
          <a:bodyPr anchor="b"/>
          <a:lstStyle>
            <a:lvl1pPr marL="0" indent="0">
              <a:buNone/>
              <a:defRPr sz="9600" b="1"/>
            </a:lvl1pPr>
            <a:lvl2pPr marL="1828800" indent="0">
              <a:buNone/>
              <a:defRPr sz="8000" b="1"/>
            </a:lvl2pPr>
            <a:lvl3pPr marL="3657600" indent="0">
              <a:buNone/>
              <a:defRPr sz="7200" b="1"/>
            </a:lvl3pPr>
            <a:lvl4pPr marL="5486400" indent="0">
              <a:buNone/>
              <a:defRPr sz="6400" b="1"/>
            </a:lvl4pPr>
            <a:lvl5pPr marL="7315200" indent="0">
              <a:buNone/>
              <a:defRPr sz="6400" b="1"/>
            </a:lvl5pPr>
            <a:lvl6pPr marL="9144000" indent="0">
              <a:buNone/>
              <a:defRPr sz="6400" b="1"/>
            </a:lvl6pPr>
            <a:lvl7pPr marL="10972800" indent="0">
              <a:buNone/>
              <a:defRPr sz="6400" b="1"/>
            </a:lvl7pPr>
            <a:lvl8pPr marL="12801600" indent="0">
              <a:buNone/>
              <a:defRPr sz="6400" b="1"/>
            </a:lvl8pPr>
            <a:lvl9pPr marL="14630400" indent="0">
              <a:buNone/>
              <a:defRPr sz="64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8516602" y="10020300"/>
            <a:ext cx="15549564" cy="1473835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6541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6020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0205495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1828800"/>
            <a:ext cx="11796712" cy="6400800"/>
          </a:xfrm>
        </p:spPr>
        <p:txBody>
          <a:bodyPr anchor="b"/>
          <a:lstStyle>
            <a:lvl1pPr>
              <a:defRPr sz="1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5549564" y="3949706"/>
            <a:ext cx="18516600" cy="19494500"/>
          </a:xfrm>
        </p:spPr>
        <p:txBody>
          <a:bodyPr/>
          <a:lstStyle>
            <a:lvl1pPr>
              <a:defRPr sz="12800"/>
            </a:lvl1pPr>
            <a:lvl2pPr>
              <a:defRPr sz="11200"/>
            </a:lvl2pPr>
            <a:lvl3pPr>
              <a:defRPr sz="9600"/>
            </a:lvl3pPr>
            <a:lvl4pPr>
              <a:defRPr sz="8000"/>
            </a:lvl4pPr>
            <a:lvl5pPr>
              <a:defRPr sz="8000"/>
            </a:lvl5pPr>
            <a:lvl6pPr>
              <a:defRPr sz="8000"/>
            </a:lvl6pPr>
            <a:lvl7pPr>
              <a:defRPr sz="8000"/>
            </a:lvl7pPr>
            <a:lvl8pPr>
              <a:defRPr sz="8000"/>
            </a:lvl8pPr>
            <a:lvl9pPr>
              <a:defRPr sz="8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19364" y="8229600"/>
            <a:ext cx="11796712" cy="15246352"/>
          </a:xfrm>
        </p:spPr>
        <p:txBody>
          <a:bodyPr/>
          <a:lstStyle>
            <a:lvl1pPr marL="0" indent="0">
              <a:buNone/>
              <a:defRPr sz="6400"/>
            </a:lvl1pPr>
            <a:lvl2pPr marL="1828800" indent="0">
              <a:buNone/>
              <a:defRPr sz="5600"/>
            </a:lvl2pPr>
            <a:lvl3pPr marL="3657600" indent="0">
              <a:buNone/>
              <a:defRPr sz="4800"/>
            </a:lvl3pPr>
            <a:lvl4pPr marL="5486400" indent="0">
              <a:buNone/>
              <a:defRPr sz="4000"/>
            </a:lvl4pPr>
            <a:lvl5pPr marL="7315200" indent="0">
              <a:buNone/>
              <a:defRPr sz="4000"/>
            </a:lvl5pPr>
            <a:lvl6pPr marL="9144000" indent="0">
              <a:buNone/>
              <a:defRPr sz="4000"/>
            </a:lvl6pPr>
            <a:lvl7pPr marL="10972800" indent="0">
              <a:buNone/>
              <a:defRPr sz="4000"/>
            </a:lvl7pPr>
            <a:lvl8pPr marL="12801600" indent="0">
              <a:buNone/>
              <a:defRPr sz="4000"/>
            </a:lvl8pPr>
            <a:lvl9pPr marL="14630400" indent="0">
              <a:buNone/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759793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19364" y="1828800"/>
            <a:ext cx="11796712" cy="6400800"/>
          </a:xfrm>
        </p:spPr>
        <p:txBody>
          <a:bodyPr anchor="b"/>
          <a:lstStyle>
            <a:lvl1pPr>
              <a:defRPr sz="1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549564" y="3949706"/>
            <a:ext cx="18516600" cy="19494500"/>
          </a:xfrm>
        </p:spPr>
        <p:txBody>
          <a:bodyPr anchor="t"/>
          <a:lstStyle>
            <a:lvl1pPr marL="0" indent="0">
              <a:buNone/>
              <a:defRPr sz="12800"/>
            </a:lvl1pPr>
            <a:lvl2pPr marL="1828800" indent="0">
              <a:buNone/>
              <a:defRPr sz="11200"/>
            </a:lvl2pPr>
            <a:lvl3pPr marL="3657600" indent="0">
              <a:buNone/>
              <a:defRPr sz="9600"/>
            </a:lvl3pPr>
            <a:lvl4pPr marL="5486400" indent="0">
              <a:buNone/>
              <a:defRPr sz="8000"/>
            </a:lvl4pPr>
            <a:lvl5pPr marL="7315200" indent="0">
              <a:buNone/>
              <a:defRPr sz="8000"/>
            </a:lvl5pPr>
            <a:lvl6pPr marL="9144000" indent="0">
              <a:buNone/>
              <a:defRPr sz="8000"/>
            </a:lvl6pPr>
            <a:lvl7pPr marL="10972800" indent="0">
              <a:buNone/>
              <a:defRPr sz="8000"/>
            </a:lvl7pPr>
            <a:lvl8pPr marL="12801600" indent="0">
              <a:buNone/>
              <a:defRPr sz="8000"/>
            </a:lvl8pPr>
            <a:lvl9pPr marL="14630400" indent="0">
              <a:buNone/>
              <a:defRPr sz="8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19364" y="8229600"/>
            <a:ext cx="11796712" cy="15246352"/>
          </a:xfrm>
        </p:spPr>
        <p:txBody>
          <a:bodyPr/>
          <a:lstStyle>
            <a:lvl1pPr marL="0" indent="0">
              <a:buNone/>
              <a:defRPr sz="6400"/>
            </a:lvl1pPr>
            <a:lvl2pPr marL="1828800" indent="0">
              <a:buNone/>
              <a:defRPr sz="5600"/>
            </a:lvl2pPr>
            <a:lvl3pPr marL="3657600" indent="0">
              <a:buNone/>
              <a:defRPr sz="4800"/>
            </a:lvl3pPr>
            <a:lvl4pPr marL="5486400" indent="0">
              <a:buNone/>
              <a:defRPr sz="4000"/>
            </a:lvl4pPr>
            <a:lvl5pPr marL="7315200" indent="0">
              <a:buNone/>
              <a:defRPr sz="4000"/>
            </a:lvl5pPr>
            <a:lvl6pPr marL="9144000" indent="0">
              <a:buNone/>
              <a:defRPr sz="4000"/>
            </a:lvl6pPr>
            <a:lvl7pPr marL="10972800" indent="0">
              <a:buNone/>
              <a:defRPr sz="4000"/>
            </a:lvl7pPr>
            <a:lvl8pPr marL="12801600" indent="0">
              <a:buNone/>
              <a:defRPr sz="4000"/>
            </a:lvl8pPr>
            <a:lvl9pPr marL="14630400" indent="0">
              <a:buNone/>
              <a:defRPr sz="4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5693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1608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6174702" y="1460500"/>
            <a:ext cx="7886700" cy="2324735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14602" y="1460500"/>
            <a:ext cx="23202900" cy="2324735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E9B830F-8D59-4B23-9C61-1E12B66C3D45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3631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14600" y="1460506"/>
            <a:ext cx="31546800" cy="530225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14600" y="7302500"/>
            <a:ext cx="31546800" cy="1740535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514600" y="25425406"/>
            <a:ext cx="82296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4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E9B830F-8D59-4B23-9C61-1E12B66C3D45}" type="datetimeFigureOut">
              <a:rPr lang="en-US" smtClean="0"/>
              <a:t>3/29/2026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2115800" y="25425406"/>
            <a:ext cx="123444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4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5831800" y="25425406"/>
            <a:ext cx="8229600" cy="14605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48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5FB2BA5-E116-47A3-9712-9B7E17F0813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19369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3657600" rtl="0" eaLnBrk="1" latinLnBrk="0" hangingPunct="1">
        <a:lnSpc>
          <a:spcPct val="90000"/>
        </a:lnSpc>
        <a:spcBef>
          <a:spcPct val="0"/>
        </a:spcBef>
        <a:buNone/>
        <a:defRPr sz="17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14400" indent="-914400" algn="l" defTabSz="3657600" rtl="0" eaLnBrk="1" latinLnBrk="0" hangingPunct="1">
        <a:lnSpc>
          <a:spcPct val="90000"/>
        </a:lnSpc>
        <a:spcBef>
          <a:spcPts val="4000"/>
        </a:spcBef>
        <a:buFont typeface="Arial" panose="020B0604020202020204" pitchFamily="34" charset="0"/>
        <a:buChar char="•"/>
        <a:defRPr sz="11200" kern="1200">
          <a:solidFill>
            <a:schemeClr val="tx1"/>
          </a:solidFill>
          <a:latin typeface="+mn-lt"/>
          <a:ea typeface="+mn-ea"/>
          <a:cs typeface="+mn-cs"/>
        </a:defRPr>
      </a:lvl1pPr>
      <a:lvl2pPr marL="27432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8000" kern="1200">
          <a:solidFill>
            <a:schemeClr val="tx1"/>
          </a:solidFill>
          <a:latin typeface="+mn-lt"/>
          <a:ea typeface="+mn-ea"/>
          <a:cs typeface="+mn-cs"/>
        </a:defRPr>
      </a:lvl3pPr>
      <a:lvl4pPr marL="64008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4pPr>
      <a:lvl5pPr marL="82296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5pPr>
      <a:lvl6pPr marL="100584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6pPr>
      <a:lvl7pPr marL="118872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7pPr>
      <a:lvl8pPr marL="137160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8pPr>
      <a:lvl9pPr marL="15544800" indent="-914400" algn="l" defTabSz="3657600" rtl="0" eaLnBrk="1" latinLnBrk="0" hangingPunct="1">
        <a:lnSpc>
          <a:spcPct val="90000"/>
        </a:lnSpc>
        <a:spcBef>
          <a:spcPts val="2000"/>
        </a:spcBef>
        <a:buFont typeface="Arial" panose="020B0604020202020204" pitchFamily="34" charset="0"/>
        <a:buChar char="•"/>
        <a:defRPr sz="7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1pPr>
      <a:lvl2pPr marL="18288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2pPr>
      <a:lvl3pPr marL="36576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3pPr>
      <a:lvl4pPr marL="54864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4pPr>
      <a:lvl5pPr marL="73152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5pPr>
      <a:lvl6pPr marL="91440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6pPr>
      <a:lvl7pPr marL="109728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7pPr>
      <a:lvl8pPr marL="128016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8pPr>
      <a:lvl9pPr marL="14630400" algn="l" defTabSz="3657600" rtl="0" eaLnBrk="1" latinLnBrk="0" hangingPunct="1">
        <a:defRPr sz="72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41066-97F7-200C-E910-134E5560C7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72700" y="540544"/>
            <a:ext cx="16230600" cy="1492456"/>
          </a:xfrm>
        </p:spPr>
        <p:txBody>
          <a:bodyPr>
            <a:normAutofit fontScale="90000"/>
          </a:bodyPr>
          <a:lstStyle/>
          <a:p>
            <a:r>
              <a:rPr lang="en-US" sz="12000" b="1" dirty="0"/>
              <a:t>The Nutrition Adventures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FB62CFDF-B819-D5A7-DA01-BB54B230955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93707" y="302147"/>
            <a:ext cx="9110663" cy="1492456"/>
          </a:xfrm>
          <a:prstGeom prst="rect">
            <a:avLst/>
          </a:prstGeom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5BC47AF0-1970-3A10-DEAF-3DE790815B08}"/>
              </a:ext>
            </a:extLst>
          </p:cNvPr>
          <p:cNvSpPr txBox="1">
            <a:spLocks/>
          </p:cNvSpPr>
          <p:nvPr/>
        </p:nvSpPr>
        <p:spPr>
          <a:xfrm>
            <a:off x="7680325" y="2114552"/>
            <a:ext cx="21215350" cy="1077218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82500" lnSpcReduction="10000"/>
          </a:bodyPr>
          <a:lstStyle>
            <a:lvl1pPr algn="ctr" defTabSz="36576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4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lnSpc>
                <a:spcPct val="120000"/>
              </a:lnSpc>
            </a:pPr>
            <a:r>
              <a:rPr lang="en-US" sz="6000" b="1" dirty="0"/>
              <a:t>Moe Ko, Juni Qureshi, </a:t>
            </a:r>
            <a:r>
              <a:rPr lang="en-US" sz="6000" b="1" dirty="0" err="1"/>
              <a:t>Snehanshu</a:t>
            </a:r>
            <a:r>
              <a:rPr lang="en-US" sz="6000" b="1" dirty="0"/>
              <a:t> Samanta, Matthew </a:t>
            </a:r>
            <a:r>
              <a:rPr lang="en-US" sz="6000" b="1" dirty="0" err="1"/>
              <a:t>Shooman</a:t>
            </a:r>
            <a:r>
              <a:rPr lang="en-US" sz="6000" b="1" dirty="0"/>
              <a:t>, Alican Sumer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CD411BE-932F-EE06-DF72-52D5D8F637F2}"/>
              </a:ext>
            </a:extLst>
          </p:cNvPr>
          <p:cNvSpPr txBox="1"/>
          <p:nvPr/>
        </p:nvSpPr>
        <p:spPr>
          <a:xfrm>
            <a:off x="26750963" y="540544"/>
            <a:ext cx="9486900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6000" dirty="0"/>
              <a:t>[INSERT SPONSOR LOGO]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C3BA45-15FF-D3C7-97B6-91F77915A785}"/>
              </a:ext>
            </a:extLst>
          </p:cNvPr>
          <p:cNvSpPr txBox="1"/>
          <p:nvPr/>
        </p:nvSpPr>
        <p:spPr>
          <a:xfrm>
            <a:off x="1426289" y="3564209"/>
            <a:ext cx="661629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400" dirty="0"/>
              <a:t>Problem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1CD8128-4DFE-71A1-A0CC-C045FCD55B61}"/>
              </a:ext>
            </a:extLst>
          </p:cNvPr>
          <p:cNvSpPr txBox="1"/>
          <p:nvPr/>
        </p:nvSpPr>
        <p:spPr>
          <a:xfrm>
            <a:off x="2262439" y="10712844"/>
            <a:ext cx="5171609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400" dirty="0"/>
              <a:t>Requirements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B0C8A14-BAF8-6EE3-8A52-1B59464C6252}"/>
              </a:ext>
            </a:extLst>
          </p:cNvPr>
          <p:cNvSpPr txBox="1"/>
          <p:nvPr/>
        </p:nvSpPr>
        <p:spPr>
          <a:xfrm>
            <a:off x="30580220" y="17210782"/>
            <a:ext cx="265008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400" dirty="0"/>
              <a:t>Testing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73A7FF4-2B65-3FAA-DF2E-2D69CAD8EDBD}"/>
              </a:ext>
            </a:extLst>
          </p:cNvPr>
          <p:cNvSpPr txBox="1"/>
          <p:nvPr/>
        </p:nvSpPr>
        <p:spPr>
          <a:xfrm>
            <a:off x="18442955" y="3582478"/>
            <a:ext cx="8308008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400" dirty="0"/>
              <a:t>HIGH LEVEL DESIGN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E6252E-F7C1-B447-456D-104E54C3F395}"/>
              </a:ext>
            </a:extLst>
          </p:cNvPr>
          <p:cNvSpPr txBox="1"/>
          <p:nvPr/>
        </p:nvSpPr>
        <p:spPr>
          <a:xfrm>
            <a:off x="15689906" y="17210782"/>
            <a:ext cx="519618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6400" dirty="0"/>
              <a:t>TWINE STORY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D76B6A1-0ED9-0027-0C95-CAE2B248659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442" b="5427"/>
          <a:stretch>
            <a:fillRect/>
          </a:stretch>
        </p:blipFill>
        <p:spPr>
          <a:xfrm>
            <a:off x="14133996" y="4550030"/>
            <a:ext cx="17931814" cy="12325627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B79A54E9-61D7-71A1-794E-F7FF1CF2E0C6}"/>
              </a:ext>
            </a:extLst>
          </p:cNvPr>
          <p:cNvSpPr txBox="1"/>
          <p:nvPr/>
        </p:nvSpPr>
        <p:spPr>
          <a:xfrm>
            <a:off x="1966911" y="17146888"/>
            <a:ext cx="5762668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400" dirty="0"/>
              <a:t>Gameplay Loop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E1259C9-8F12-5999-B4D6-48ECE743969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72699" y="18951928"/>
            <a:ext cx="17081207" cy="713651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E4E5154-08E0-A303-22F9-77385AB60EFA}"/>
              </a:ext>
            </a:extLst>
          </p:cNvPr>
          <p:cNvSpPr txBox="1"/>
          <p:nvPr/>
        </p:nvSpPr>
        <p:spPr>
          <a:xfrm>
            <a:off x="549298" y="4641427"/>
            <a:ext cx="8597893" cy="567007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57250" indent="-8572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500" b="1" dirty="0"/>
              <a:t>Sponsor: </a:t>
            </a:r>
            <a:r>
              <a:rPr lang="en-US" sz="3500" dirty="0"/>
              <a:t>Dr Renee Harrington, Department of Health and Exercise Studies at NCSU</a:t>
            </a:r>
            <a:endParaRPr lang="en-US" sz="3500" b="1" dirty="0"/>
          </a:p>
          <a:p>
            <a:pPr marL="857250" indent="-8572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500" b="1" dirty="0"/>
              <a:t>Problem: </a:t>
            </a:r>
            <a:r>
              <a:rPr lang="en-US" sz="3500" dirty="0"/>
              <a:t>Existing nutritional education is unengaging and unrelatable</a:t>
            </a:r>
            <a:endParaRPr lang="en-US" sz="3500" b="1" dirty="0"/>
          </a:p>
          <a:p>
            <a:pPr marL="857250" indent="-8572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500" b="1" dirty="0"/>
              <a:t>Goal: </a:t>
            </a:r>
            <a:r>
              <a:rPr lang="en-US" sz="3500" dirty="0"/>
              <a:t>Create an educational game that fun and relevant to students</a:t>
            </a:r>
            <a:endParaRPr lang="en-US" sz="3500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EF382E-C24D-C0E4-F546-61E516B25931}"/>
              </a:ext>
            </a:extLst>
          </p:cNvPr>
          <p:cNvSpPr txBox="1"/>
          <p:nvPr/>
        </p:nvSpPr>
        <p:spPr>
          <a:xfrm>
            <a:off x="549298" y="11790062"/>
            <a:ext cx="8778852" cy="48621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57250" indent="-8572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500" b="1" dirty="0"/>
              <a:t>Game: </a:t>
            </a:r>
            <a:r>
              <a:rPr lang="en-US" sz="3500" dirty="0"/>
              <a:t>Browser-based interactive CYOA game for on-campus dining options</a:t>
            </a:r>
            <a:endParaRPr lang="en-US" sz="3500" b="1" dirty="0"/>
          </a:p>
          <a:p>
            <a:pPr marL="857250" indent="-8572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500" b="1" dirty="0"/>
              <a:t>Dashboard: </a:t>
            </a:r>
            <a:r>
              <a:rPr lang="en-US" sz="3500" dirty="0"/>
              <a:t>Basic web-app for instructors to track student progress</a:t>
            </a:r>
            <a:endParaRPr lang="en-US" sz="3500" b="1" dirty="0"/>
          </a:p>
          <a:p>
            <a:pPr marL="857250" indent="-8572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3500" b="1" dirty="0"/>
              <a:t>Security: </a:t>
            </a:r>
            <a:r>
              <a:rPr lang="en-US" sz="3500" dirty="0"/>
              <a:t>Integrate Shibboleth authentication for student privacy</a:t>
            </a:r>
            <a:endParaRPr lang="en-US" sz="3500" b="1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F12010E-D332-3306-6578-44123484D488}"/>
              </a:ext>
            </a:extLst>
          </p:cNvPr>
          <p:cNvSpPr txBox="1"/>
          <p:nvPr/>
        </p:nvSpPr>
        <p:spPr>
          <a:xfrm>
            <a:off x="28847625" y="20766782"/>
            <a:ext cx="6436377" cy="206210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400" dirty="0"/>
              <a:t>PUT TEST </a:t>
            </a:r>
          </a:p>
          <a:p>
            <a:pPr algn="ctr"/>
            <a:r>
              <a:rPr lang="en-US" sz="6400" dirty="0"/>
              <a:t>COVERAGE HERE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F6F5602-630D-9DC3-DF1A-B8EAB0D48D4E}"/>
              </a:ext>
            </a:extLst>
          </p:cNvPr>
          <p:cNvSpPr txBox="1"/>
          <p:nvPr/>
        </p:nvSpPr>
        <p:spPr>
          <a:xfrm>
            <a:off x="600741" y="21229347"/>
            <a:ext cx="8495018" cy="304698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6400" dirty="0"/>
              <a:t>INSERT GRAPHIC HERE</a:t>
            </a:r>
          </a:p>
          <a:p>
            <a:pPr algn="ctr"/>
            <a:r>
              <a:rPr lang="en-US" sz="6400" dirty="0"/>
              <a:t>(CHANGE IMAGE IN </a:t>
            </a:r>
          </a:p>
          <a:p>
            <a:pPr algn="ctr"/>
            <a:r>
              <a:rPr lang="en-US" sz="6400" dirty="0"/>
              <a:t>OPR2 TO SVG)</a:t>
            </a:r>
          </a:p>
        </p:txBody>
      </p:sp>
    </p:spTree>
    <p:extLst>
      <p:ext uri="{BB962C8B-B14F-4D97-AF65-F5344CB8AC3E}">
        <p14:creationId xmlns:p14="http://schemas.microsoft.com/office/powerpoint/2010/main" val="3202904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1434</TotalTime>
  <Words>111</Words>
  <Application>Microsoft Office PowerPoint</Application>
  <PresentationFormat>Custom</PresentationFormat>
  <Paragraphs>20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The Nutrition Adventures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Moe Ko</dc:creator>
  <cp:lastModifiedBy>Moe Ko</cp:lastModifiedBy>
  <cp:revision>6</cp:revision>
  <dcterms:created xsi:type="dcterms:W3CDTF">2026-03-25T15:56:08Z</dcterms:created>
  <dcterms:modified xsi:type="dcterms:W3CDTF">2026-03-30T00:26:40Z</dcterms:modified>
</cp:coreProperties>
</file>